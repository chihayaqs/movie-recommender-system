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50000">
                <a:srgbClr val="E6F3FA"/>
              </a:gs>
              <a:gs pos="100000">
                <a:srgbClr val="F5FBF7"/>
              </a:gs>
            </a:gsLst>
            <a:lin ang="8100000"/>
          </a:gradFill>
          <a:ln w="0">
            <a:gradFill>
              <a:gsLst>
                <a:gs pos="0">
                  <a:srgbClr val="F8FAFC"/>
                </a:gs>
                <a:gs pos="50000">
                  <a:srgbClr val="E6F3FA"/>
                </a:gs>
                <a:gs pos="100000">
                  <a:srgbClr val="F5FBF7"/>
                </a:gs>
              </a:gsLst>
              <a:lin ang="8100000"/>
            </a:gra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1200150"/>
            <a:ext cx="7239000" cy="5143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2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</a:t>
            </a:r>
            <a:endParaRPr sz="2250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866900"/>
            <a:ext cx="7048500" cy="5524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 fontScale="97826"/>
          </a:bodyPr>
          <a:lstStyle/>
          <a:p>
            <a:pPr algn="l">
              <a:defRPr sz="34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基于协同过滤的</a:t>
            </a:r>
            <a:endParaRPr sz="3450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609850"/>
            <a:ext cx="7048500" cy="647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 fontScale="98765"/>
          </a:bodyPr>
          <a:lstStyle/>
          <a:p>
            <a:pPr algn="l">
              <a:defRPr sz="40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电影推荐系统</a:t>
            </a:r>
            <a:endParaRPr sz="4050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3619500"/>
            <a:ext cx="7239000" cy="3429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6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475569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周四</a:t>
            </a:r>
            <a:r>
              <a:rPr lang="en-US" altLang="zh-CN" sz="1800" b="0">
                <a:solidFill>
                  <a:srgbClr val="475569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| </a:t>
            </a:r>
            <a:r>
              <a:rPr lang="zh-CN" altLang="en-US" sz="1800" b="0">
                <a:solidFill>
                  <a:srgbClr val="475569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第</a:t>
            </a:r>
            <a:r>
              <a:rPr lang="en-US" altLang="zh-CN" sz="1800" b="0">
                <a:solidFill>
                  <a:srgbClr val="475569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24</a:t>
            </a:r>
            <a:r>
              <a:rPr lang="zh-CN" altLang="en-US" sz="1800" b="0">
                <a:solidFill>
                  <a:srgbClr val="475569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组</a:t>
            </a:r>
            <a:endParaRPr lang="zh-CN" altLang="en-US" sz="1800" b="0">
              <a:solidFill>
                <a:srgbClr val="475569"/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38200" y="4343400"/>
            <a:ext cx="1028700" cy="30480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76200" tIns="47625" rIns="76200" bIns="38100">
            <a:noAutofit/>
          </a:bodyPr>
          <a:lstStyle/>
          <a:p>
            <a:pPr algn="ct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</a:t>
            </a:r>
            <a:endParaRPr lang="en-US" sz="1600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019300" y="43434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76200" tIns="47625" rIns="76200" bIns="38100">
            <a:noAutofit/>
          </a:bodyPr>
          <a:lstStyle/>
          <a:p>
            <a:pPr algn="ct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Pandas</a:t>
            </a:r>
            <a:endParaRPr sz="1600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238500" y="43434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76200" tIns="47625" rIns="76200" bIns="38100">
            <a:noAutofit/>
          </a:bodyPr>
          <a:lstStyle/>
          <a:p>
            <a:pPr algn="ct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scikit-learn</a:t>
            </a:r>
            <a:endParaRPr sz="1600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819650" y="43434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76200" tIns="47625" rIns="76200" bIns="38100">
            <a:noAutofit/>
          </a:bodyPr>
          <a:lstStyle/>
          <a:p>
            <a:pPr algn="ctr">
              <a:defRPr sz="1125" b="1">
                <a:solidFill>
                  <a:srgbClr val="126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26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Top-N 推荐</a:t>
            </a:r>
            <a:endParaRPr sz="1600" b="1">
              <a:solidFill>
                <a:srgbClr val="126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839200" y="1485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9124950" y="1485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9410700" y="1485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9696450" y="1485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9982200" y="1485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267950" y="1485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553700" y="1485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839200" y="1771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9124950" y="1771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410700" y="1771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9696450" y="1771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9982200" y="1771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10267950" y="1771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553700" y="1771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8839200" y="2057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9124950" y="2057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10700" y="2057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9696450" y="2057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9982200" y="2057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10267950" y="2057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10553700" y="2057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839200" y="23431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9124950" y="23431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9410700" y="23431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9696450" y="23431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9982200" y="23431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10267950" y="23431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10553700" y="23431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8839200" y="2628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9124950" y="2628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9410700" y="2628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9696450" y="2628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9982200" y="2628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10267950" y="2628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10553700" y="26289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46" name="圆角矩形 45"/>
          <p:cNvSpPr>
            <a:spLocks noGrp="1"/>
          </p:cNvSpPr>
          <p:nvPr/>
        </p:nvSpPr>
        <p:spPr>
          <a:xfrm>
            <a:off x="8839200" y="2914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47" name="圆角矩形 46"/>
          <p:cNvSpPr>
            <a:spLocks noGrp="1"/>
          </p:cNvSpPr>
          <p:nvPr/>
        </p:nvSpPr>
        <p:spPr>
          <a:xfrm>
            <a:off x="9124950" y="2914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9410700" y="2914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9696450" y="2914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9982200" y="2914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51" name="圆角矩形 50"/>
          <p:cNvSpPr>
            <a:spLocks noGrp="1"/>
          </p:cNvSpPr>
          <p:nvPr/>
        </p:nvSpPr>
        <p:spPr>
          <a:xfrm>
            <a:off x="10267950" y="2914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10553700" y="2914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8839200" y="3200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9124950" y="3200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55" name="圆角矩形 54"/>
          <p:cNvSpPr>
            <a:spLocks noGrp="1"/>
          </p:cNvSpPr>
          <p:nvPr/>
        </p:nvSpPr>
        <p:spPr>
          <a:xfrm>
            <a:off x="9410700" y="3200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9696450" y="3200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57" name="圆角矩形 56"/>
          <p:cNvSpPr>
            <a:spLocks noGrp="1"/>
          </p:cNvSpPr>
          <p:nvPr/>
        </p:nvSpPr>
        <p:spPr>
          <a:xfrm>
            <a:off x="9982200" y="3200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10267950" y="3200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7CAD7"/>
          </a:solidFill>
          <a:ln w="10478">
            <a:solidFill>
              <a:srgbClr val="B7CAD7"/>
            </a:solidFill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10553700" y="32004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r>
              <a:rPr lang="en-US"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endParaRPr lang="zh-CN" altLang="en-US"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项目背景与任务目标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lang="zh-CN"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4715" y="1237615"/>
            <a:ext cx="4839335" cy="61976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9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>
                <a:sym typeface="+mn-ea"/>
              </a:rPr>
              <a:t>为什么要</a:t>
            </a:r>
            <a:r>
              <a:rPr sz="2000">
                <a:sym typeface="+mn-ea"/>
              </a:rPr>
              <a:t>构建推荐系统</a:t>
            </a:r>
            <a:r>
              <a:rPr lang="zh-CN" sz="2000">
                <a:sym typeface="+mn-ea"/>
              </a:rPr>
              <a:t>：</a:t>
            </a:r>
            <a:endParaRPr 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33575"/>
            <a:ext cx="190500" cy="2286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7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>
                <a:solidFill>
                  <a:srgbClr val="28A69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300" b="1">
              <a:solidFill>
                <a:srgbClr val="28A69A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1924050"/>
            <a:ext cx="4686300" cy="1161415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电影平台内容多，用户主动筛选成本高</a:t>
            </a:r>
            <a:r>
              <a:rPr lang="zh-CN" sz="24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，难以快速找到感兴趣内容，平台需提供推荐</a:t>
            </a:r>
            <a:endParaRPr lang="zh-CN" sz="2400" b="0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781050" y="3354705"/>
            <a:ext cx="4953000" cy="770255"/>
            <a:chOff x="1230" y="3600"/>
            <a:chExt cx="7800" cy="570"/>
          </a:xfrm>
        </p:grpSpPr>
        <p:sp>
          <p:nvSpPr>
            <p:cNvPr id="9" name="矩形 8"/>
            <p:cNvSpPr>
              <a:spLocks noGrp="1"/>
            </p:cNvSpPr>
            <p:nvPr/>
          </p:nvSpPr>
          <p:spPr>
            <a:xfrm>
              <a:off x="1230" y="3615"/>
              <a:ext cx="300" cy="360"/>
            </a:xfrm>
            <a:prstGeom prst="rect">
              <a:avLst/>
            </a:prstGeom>
            <a:solidFill>
              <a:srgbClr val="F8FAFC"/>
            </a:solidFill>
            <a:ln w="10478">
              <a:solidFill>
                <a:srgbClr val="F8FAFC"/>
              </a:solidFill>
            </a:ln>
          </p:spPr>
          <p:txBody>
            <a:bodyPr wrap="square" lIns="0" tIns="0" rIns="0" bIns="0">
              <a:noAutofit/>
            </a:bodyPr>
            <a:lstStyle/>
            <a:p>
              <a:pPr algn="ctr">
                <a:defRPr sz="1575" b="1">
                  <a:solidFill>
                    <a:srgbClr val="28A69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300" b="1">
                  <a:solidFill>
                    <a:srgbClr val="28A69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•</a:t>
              </a:r>
              <a:endParaRPr sz="2300" b="1">
                <a:solidFill>
                  <a:srgbClr val="28A69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10" name="矩形 9"/>
            <p:cNvSpPr>
              <a:spLocks noGrp="1"/>
            </p:cNvSpPr>
            <p:nvPr/>
          </p:nvSpPr>
          <p:spPr>
            <a:xfrm>
              <a:off x="1650" y="3600"/>
              <a:ext cx="7380" cy="570"/>
            </a:xfrm>
            <a:prstGeom prst="rect">
              <a:avLst/>
            </a:prstGeom>
            <a:solidFill>
              <a:srgbClr val="F8FAFC"/>
            </a:solidFill>
            <a:ln w="10478">
              <a:solidFill>
                <a:srgbClr val="F8FAFC"/>
              </a:solidFill>
            </a:ln>
          </p:spPr>
          <p:txBody>
            <a:bodyPr wrap="square" lIns="0" tIns="0" rIns="38100" bIns="0">
              <a:noAutofit/>
            </a:bodyPr>
            <a:lstStyle/>
            <a:p>
              <a:pPr algn="l">
                <a:defRPr sz="1575" b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400" b="0">
                  <a:solidFill>
                    <a:srgbClr val="47556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用户历史评分可表达偏好，适合构建个性化推荐</a:t>
              </a:r>
              <a:endParaRPr sz="24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81050" y="4558665"/>
            <a:ext cx="4953000" cy="1346200"/>
            <a:chOff x="1230" y="4170"/>
            <a:chExt cx="7800" cy="570"/>
          </a:xfrm>
        </p:grpSpPr>
        <p:sp>
          <p:nvSpPr>
            <p:cNvPr id="11" name="矩形 10"/>
            <p:cNvSpPr>
              <a:spLocks noGrp="1"/>
            </p:cNvSpPr>
            <p:nvPr/>
          </p:nvSpPr>
          <p:spPr>
            <a:xfrm>
              <a:off x="1230" y="4185"/>
              <a:ext cx="300" cy="360"/>
            </a:xfrm>
            <a:prstGeom prst="rect">
              <a:avLst/>
            </a:prstGeom>
            <a:solidFill>
              <a:srgbClr val="F8FAFC"/>
            </a:solidFill>
            <a:ln w="10478">
              <a:solidFill>
                <a:srgbClr val="F8FAFC"/>
              </a:solidFill>
            </a:ln>
          </p:spPr>
          <p:txBody>
            <a:bodyPr wrap="square" lIns="0" tIns="0" rIns="0" bIns="0">
              <a:noAutofit/>
            </a:bodyPr>
            <a:lstStyle/>
            <a:p>
              <a:pPr algn="ctr">
                <a:defRPr sz="1575" b="1">
                  <a:solidFill>
                    <a:srgbClr val="28A69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300" b="1">
                  <a:solidFill>
                    <a:srgbClr val="28A69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•</a:t>
              </a:r>
              <a:endParaRPr sz="2300" b="1">
                <a:solidFill>
                  <a:srgbClr val="28A69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1650" y="4170"/>
              <a:ext cx="7380" cy="570"/>
            </a:xfrm>
            <a:prstGeom prst="rect">
              <a:avLst/>
            </a:prstGeom>
            <a:solidFill>
              <a:srgbClr val="F8FAFC"/>
            </a:solidFill>
            <a:ln w="10478">
              <a:solidFill>
                <a:srgbClr val="F8FAFC"/>
              </a:solidFill>
            </a:ln>
          </p:spPr>
          <p:txBody>
            <a:bodyPr wrap="square" lIns="0" tIns="0" rIns="38100" bIns="0">
              <a:noAutofit/>
            </a:bodyPr>
            <a:lstStyle/>
            <a:p>
              <a:pPr algn="l">
                <a:defRPr sz="1575" b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sz="2400" b="0">
                  <a:solidFill>
                    <a:srgbClr val="47556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通过基于物品的协同过滤，利用用户的历史评分，计算电影之间的相似度，</a:t>
              </a:r>
              <a:r>
                <a:rPr sz="2400" b="0">
                  <a:solidFill>
                    <a:srgbClr val="47556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输出指定用户推荐结果并评价效果</a:t>
              </a:r>
              <a:endParaRPr sz="24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sp>
        <p:nvSpPr>
          <p:cNvPr id="13" name="圆角矩形 1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72250" y="1714500"/>
            <a:ext cx="4381500" cy="10718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19900" y="1914525"/>
            <a:ext cx="419100" cy="2857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448550" y="1857375"/>
            <a:ext cx="2000250" cy="2476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5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构建评分矩阵</a:t>
            </a:r>
            <a:endParaRPr sz="17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448550" y="2143125"/>
            <a:ext cx="3048000" cy="2095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将用户、电影、评分组织成可建模结构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572250" y="2886075"/>
            <a:ext cx="4381500" cy="100520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19900" y="3086100"/>
            <a:ext cx="419100" cy="2857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448550" y="3028950"/>
            <a:ext cx="2000250" cy="2476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5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实现协同过滤</a:t>
            </a:r>
            <a:endParaRPr sz="17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448550" y="3314700"/>
            <a:ext cx="3048000" cy="50419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基于电影相似度预测未评分电影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572250" y="3990975"/>
            <a:ext cx="4381500" cy="100266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19900" y="4191000"/>
            <a:ext cx="419100" cy="2857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448550" y="4133850"/>
            <a:ext cx="2000250" cy="2476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5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模型</a:t>
            </a:r>
            <a:r>
              <a:rPr sz="17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评估效果</a:t>
            </a:r>
            <a:endParaRPr sz="17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448550" y="4419600"/>
            <a:ext cx="3048000" cy="2095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同时看评分误差和 Top-N 命中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572250" y="5086350"/>
            <a:ext cx="4381500" cy="102616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819900" y="5286375"/>
            <a:ext cx="419100" cy="2857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04</a:t>
            </a:r>
            <a:endParaRPr sz="18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448550" y="5229225"/>
            <a:ext cx="2000250" cy="2476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5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交互式展示</a:t>
            </a:r>
            <a:endParaRPr sz="17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448550" y="5514975"/>
            <a:ext cx="3048000" cy="2095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通过 Streamlit </a:t>
            </a:r>
            <a:r>
              <a:rPr lang="zh-CN"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制作</a:t>
            </a: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可</a:t>
            </a:r>
            <a:r>
              <a:rPr lang="zh-CN"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交互</a:t>
            </a: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推荐页面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10350" y="1166495"/>
            <a:ext cx="1413510" cy="424815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9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>
                <a:sym typeface="+mn-ea"/>
              </a:rPr>
              <a:t>核心任务</a:t>
            </a:r>
            <a:r>
              <a:rPr lang="en-US" altLang="zh-CN" sz="2000">
                <a:sym typeface="+mn-ea"/>
              </a:rPr>
              <a:t>:</a:t>
            </a:r>
            <a:endParaRPr lang="en-US" alt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数据来源与清洗流程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562100"/>
            <a:ext cx="1824990" cy="138493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600200"/>
            <a:ext cx="152400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MovieLens</a:t>
            </a:r>
            <a:endParaRPr sz="17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原始数据</a:t>
            </a:r>
            <a:endParaRPr sz="17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106295"/>
            <a:ext cx="1656715" cy="827405"/>
          </a:xfrm>
          <a:prstGeom prst="rect">
            <a:avLst/>
          </a:prstGeom>
          <a:noFill/>
          <a:ln w="10478"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8100" tIns="19050" rIns="38100" bIns="19050">
            <a:no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ratings / movies</a:t>
            </a:r>
            <a:r>
              <a:rPr lang="en-US" sz="17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/ </a:t>
            </a:r>
            <a:endParaRPr sz="17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links / tags</a:t>
            </a:r>
            <a:endParaRPr sz="17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54605" y="1866900"/>
            <a:ext cx="379095" cy="418465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ctr">
              <a:defRPr sz="2400" b="1">
                <a:solidFill>
                  <a:srgbClr val="2F80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F80B7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F80B7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028950" y="1562100"/>
            <a:ext cx="1771015" cy="137985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24200" y="1714500"/>
            <a:ext cx="152400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数据清洗</a:t>
            </a:r>
            <a:endParaRPr sz="18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77210" y="2038985"/>
            <a:ext cx="1628775" cy="77978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字段统一、去重</a:t>
            </a:r>
            <a:r>
              <a:rPr lang="zh-CN" sz="1700" b="0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、</a:t>
            </a:r>
            <a:endParaRPr sz="1700" b="0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异常与缺失处理</a:t>
            </a:r>
            <a:r>
              <a:rPr lang="zh-CN" sz="1700" b="0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、时间戳转换</a:t>
            </a:r>
            <a:endParaRPr lang="zh-CN" sz="1700" b="0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38700" y="1866900"/>
            <a:ext cx="438150" cy="3810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ctr">
              <a:defRPr sz="2400" b="1">
                <a:solidFill>
                  <a:srgbClr val="2F80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F80B7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F80B7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372100" y="1562100"/>
            <a:ext cx="1770380" cy="13747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467350" y="1714500"/>
            <a:ext cx="152400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r>
              <a:rPr sz="18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leaned_data</a:t>
            </a:r>
            <a:endParaRPr sz="18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497195" y="2106295"/>
            <a:ext cx="1524000" cy="650875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清洗后 </a:t>
            </a:r>
            <a:r>
              <a:rPr sz="17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CSV</a:t>
            </a:r>
            <a:endParaRPr sz="1700" b="0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700" b="0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40905" y="1866900"/>
            <a:ext cx="379095" cy="47117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ctr">
              <a:defRPr sz="2400" b="1">
                <a:solidFill>
                  <a:srgbClr val="2F80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F80B7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F80B7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715250" y="1562100"/>
            <a:ext cx="1703705" cy="145669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0" y="1714500"/>
            <a:ext cx="152400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评分矩阵</a:t>
            </a:r>
            <a:endParaRPr sz="18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0" y="2038350"/>
            <a:ext cx="1524000" cy="89789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 × 电影</a:t>
            </a:r>
            <a:endParaRPr sz="1700" b="0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稀疏矩阵</a:t>
            </a:r>
            <a:endParaRPr sz="1700" b="0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700" b="0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3448050"/>
            <a:ext cx="1905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38200" y="3448050"/>
            <a:ext cx="57150" cy="990600"/>
          </a:xfrm>
          <a:prstGeom prst="roundRect">
            <a:avLst>
              <a:gd name="adj" fmla="val 33333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3600450"/>
            <a:ext cx="1619250" cy="2095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用户数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28700" y="3886200"/>
            <a:ext cx="1619250" cy="3619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</a:t>
            </a:r>
            <a:endParaRPr sz="20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3124200" y="3448050"/>
            <a:ext cx="1905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3124200" y="3448050"/>
            <a:ext cx="57150" cy="990600"/>
          </a:xfrm>
          <a:prstGeom prst="roundRect">
            <a:avLst>
              <a:gd name="adj" fmla="val 33333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314700" y="3600450"/>
            <a:ext cx="1619250" cy="2095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电影数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314700" y="3886200"/>
            <a:ext cx="1619250" cy="3619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9,724</a:t>
            </a:r>
            <a:endParaRPr sz="20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410200" y="3448050"/>
            <a:ext cx="2095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5410200" y="3448050"/>
            <a:ext cx="57150" cy="990600"/>
          </a:xfrm>
          <a:prstGeom prst="roundRect">
            <a:avLst>
              <a:gd name="adj" fmla="val 33333"/>
            </a:avLst>
          </a:prstGeom>
          <a:solidFill>
            <a:srgbClr val="F59E5B"/>
          </a:solidFill>
          <a:ln w="10478">
            <a:solidFill>
              <a:srgbClr val="F59E5B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600700" y="3600450"/>
            <a:ext cx="1809750" cy="2095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评分数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600700" y="3886200"/>
            <a:ext cx="1809750" cy="3619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100,836</a:t>
            </a:r>
            <a:endParaRPr sz="20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886700" y="3448050"/>
            <a:ext cx="1905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7886700" y="3448050"/>
            <a:ext cx="57150" cy="990600"/>
          </a:xfrm>
          <a:prstGeom prst="roundRect">
            <a:avLst>
              <a:gd name="adj" fmla="val 33333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077200" y="3600450"/>
            <a:ext cx="1619250" cy="2095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标签数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3886200"/>
            <a:ext cx="1619250" cy="3619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3,683</a:t>
            </a:r>
            <a:endParaRPr sz="20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914400" y="5067300"/>
            <a:ext cx="8572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914400" y="5067300"/>
            <a:ext cx="57150" cy="609600"/>
          </a:xfrm>
          <a:prstGeom prst="roundRect">
            <a:avLst>
              <a:gd name="adj" fmla="val 33333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104900" y="5197475"/>
            <a:ext cx="8248650" cy="3429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评分用于模型训练；电影标题、类型与标签用于解释和页面展示。</a:t>
            </a:r>
            <a:endParaRPr sz="18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数据处理结果：评分分布与活跃度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可视化证据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28650" y="1200150"/>
            <a:ext cx="5467985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861185"/>
            <a:ext cx="5304790" cy="197358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95350" y="4019550"/>
            <a:ext cx="5039360" cy="5143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评分主要集中在较高分段，为相关电影阈值 ≥ 4.0 提供依据。</a:t>
            </a:r>
            <a:endParaRPr sz="16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38900" y="1200150"/>
            <a:ext cx="51435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155" y="1377315"/>
            <a:ext cx="4558665" cy="3241675"/>
          </a:xfrm>
          <a:prstGeom prst="rect">
            <a:avLst/>
          </a:prstGeom>
        </p:spPr>
      </p:pic>
      <p:sp>
        <p:nvSpPr>
          <p:cNvPr id="11" name="圆角矩形 10"/>
          <p:cNvSpPr>
            <a:spLocks noGrp="1"/>
          </p:cNvSpPr>
          <p:nvPr/>
        </p:nvSpPr>
        <p:spPr>
          <a:xfrm>
            <a:off x="1104900" y="5162550"/>
            <a:ext cx="9620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04900" y="5162550"/>
            <a:ext cx="57150" cy="609600"/>
          </a:xfrm>
          <a:prstGeom prst="roundRect">
            <a:avLst>
              <a:gd name="adj" fmla="val 33333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95400" y="5295900"/>
            <a:ext cx="9296400" cy="3429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活跃用户与热门电影过滤后，评分分布更适合相似度计算。</a:t>
            </a:r>
            <a:endParaRPr sz="18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评分矩阵稀疏性与过滤策略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285750" y="1257300"/>
            <a:ext cx="4484370" cy="3142615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1504950"/>
            <a:ext cx="2476500" cy="2857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6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过滤前后核心规模</a:t>
            </a:r>
            <a:endParaRPr sz="18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2019300"/>
            <a:ext cx="10477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指标</a:t>
            </a:r>
            <a:endParaRPr sz="1800" b="1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09800" y="2019300"/>
            <a:ext cx="9525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12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过滤前</a:t>
            </a:r>
            <a:endParaRPr sz="1800" b="1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2019300"/>
            <a:ext cx="9525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12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4748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过滤后</a:t>
            </a:r>
            <a:endParaRPr sz="1800" b="1">
              <a:solidFill>
                <a:srgbClr val="64748B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400300"/>
            <a:ext cx="11430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用户数</a:t>
            </a:r>
            <a:endParaRPr sz="1700" b="0">
              <a:solidFill>
                <a:srgbClr val="0F172A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95500" y="240030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610</a:t>
            </a:r>
            <a:endParaRPr sz="1700" b="0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24250" y="240030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475</a:t>
            </a:r>
            <a:endParaRPr sz="17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2724150"/>
            <a:ext cx="11430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电影数</a:t>
            </a:r>
            <a:endParaRPr sz="1700" b="0">
              <a:solidFill>
                <a:srgbClr val="0F172A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095500" y="272415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9,724</a:t>
            </a:r>
            <a:endParaRPr sz="1700" b="0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24250" y="272415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1,617</a:t>
            </a:r>
            <a:endParaRPr sz="17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3048000"/>
            <a:ext cx="11430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评分数</a:t>
            </a:r>
            <a:endParaRPr sz="1700" b="0">
              <a:solidFill>
                <a:srgbClr val="0F172A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095500" y="304800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100,836</a:t>
            </a:r>
            <a:endParaRPr sz="1700" b="0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24250" y="304800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70,454</a:t>
            </a:r>
            <a:endParaRPr sz="17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4850" y="3371850"/>
            <a:ext cx="11430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稀疏率</a:t>
            </a:r>
            <a:endParaRPr sz="1700" b="0">
              <a:solidFill>
                <a:srgbClr val="0F172A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95500" y="337185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98.30%</a:t>
            </a:r>
            <a:endParaRPr sz="1700" b="0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524250" y="337185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90.83%</a:t>
            </a:r>
            <a:endParaRPr sz="17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3695700"/>
            <a:ext cx="11430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密度</a:t>
            </a:r>
            <a:endParaRPr sz="1700" b="0">
              <a:solidFill>
                <a:srgbClr val="0F172A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369570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1.70%</a:t>
            </a:r>
            <a:endParaRPr sz="1700" b="0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524250" y="3695700"/>
            <a:ext cx="112395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2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9.17%</a:t>
            </a:r>
            <a:endParaRPr sz="17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0765" y="1553210"/>
            <a:ext cx="7179310" cy="2685415"/>
          </a:xfrm>
          <a:prstGeom prst="rect">
            <a:avLst/>
          </a:prstGeom>
        </p:spPr>
      </p:pic>
      <p:sp>
        <p:nvSpPr>
          <p:cNvPr id="36" name="圆角矩形 35"/>
          <p:cNvSpPr>
            <a:spLocks noGrp="1"/>
          </p:cNvSpPr>
          <p:nvPr/>
        </p:nvSpPr>
        <p:spPr>
          <a:xfrm>
            <a:off x="1104900" y="5105400"/>
            <a:ext cx="9620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1104900" y="5105400"/>
            <a:ext cx="57150" cy="609600"/>
          </a:xfrm>
          <a:prstGeom prst="roundRect">
            <a:avLst>
              <a:gd name="adj" fmla="val 33333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95400" y="5238750"/>
            <a:ext cx="9296400" cy="3429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 lnSpcReduction="10000"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筛选阈值：user ≥ 30、movie ≥ 15</a:t>
            </a:r>
            <a:r>
              <a:rPr lang="zh-CN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（评分数量）</a:t>
            </a:r>
            <a:r>
              <a:rPr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；密度从 1.70% 提升到 9.17%。</a:t>
            </a:r>
            <a:endParaRPr sz="20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物品协同过滤：从评分矩阵到电影相似度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模型原理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133475"/>
            <a:ext cx="7810500" cy="3238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 fontScale="96154"/>
          </a:bodyPr>
          <a:lstStyle/>
          <a:p>
            <a:pPr algn="l">
              <a:defRPr sz="19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把每部电影看成“所有用户评分组成的列向量”。</a:t>
            </a:r>
            <a:endParaRPr sz="19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57250" y="1633855"/>
            <a:ext cx="4095750" cy="327279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1695450"/>
            <a:ext cx="3755390" cy="93853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6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用户-电影评分矩阵</a:t>
            </a:r>
            <a:r>
              <a:rPr lang="en-US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</a:t>
            </a:r>
            <a:endParaRPr sz="19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6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行表示</a:t>
            </a:r>
            <a:r>
              <a:rPr lang="en-US" altLang="zh-CN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userId</a:t>
            </a:r>
            <a:r>
              <a:rPr lang="zh-CN" altLang="en-US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，列表示</a:t>
            </a:r>
            <a:r>
              <a:rPr lang="en-US" altLang="zh-CN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movieId</a:t>
            </a:r>
            <a:r>
              <a:rPr lang="zh-CN" altLang="en-US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，单元格表示用户</a:t>
            </a:r>
            <a:r>
              <a:rPr lang="en-US" altLang="zh-CN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</a:t>
            </a:r>
            <a:r>
              <a:rPr lang="zh-CN" altLang="en-US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对电影</a:t>
            </a:r>
            <a:r>
              <a:rPr lang="en-US" altLang="zh-CN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的评分</a:t>
            </a:r>
            <a:r>
              <a:rPr lang="en-US" altLang="zh-CN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zh-CN" altLang="en-US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</a:t>
            </a:r>
            <a:r>
              <a:rPr lang="zh-CN" altLang="en-US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9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295400" y="30962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752600" y="30962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2209800" y="30962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667000" y="30962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3124200" y="30962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1295400" y="34582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1752600" y="34582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2209800" y="34582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2667000" y="34582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3124200" y="34582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1295400" y="38201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1752600" y="38201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2209800" y="38201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2667000" y="38201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3124200" y="382016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1295400" y="41821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752600" y="41821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2209800" y="41821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667000" y="41821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3124200" y="4182110"/>
            <a:ext cx="323850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0478">
            <a:solidFill>
              <a:srgbClr val="E2E8F0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66800" y="4562475"/>
            <a:ext cx="3660140" cy="210185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列向量 = 一部电影在不同用户上的评分</a:t>
            </a:r>
            <a:endParaRPr sz="1600" b="1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5772150" y="1621155"/>
            <a:ext cx="5334000" cy="328549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153150" y="1824355"/>
            <a:ext cx="2095500" cy="2857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80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余弦相似度</a:t>
            </a:r>
            <a:endParaRPr sz="19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191250" y="3322955"/>
            <a:ext cx="1905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57950" y="3313430"/>
            <a:ext cx="3829050" cy="3810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值越接近 1，说明两部电影被用户群体以更相似方式评价</a:t>
            </a:r>
            <a:endParaRPr sz="2000" b="0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6191250" y="4038600"/>
            <a:ext cx="4095750" cy="381000"/>
            <a:chOff x="9750" y="6105"/>
            <a:chExt cx="6450" cy="600"/>
          </a:xfrm>
        </p:grpSpPr>
        <p:sp>
          <p:nvSpPr>
            <p:cNvPr id="35" name="矩形 34"/>
            <p:cNvSpPr>
              <a:spLocks noGrp="1"/>
            </p:cNvSpPr>
            <p:nvPr/>
          </p:nvSpPr>
          <p:spPr>
            <a:xfrm>
              <a:off x="9750" y="6120"/>
              <a:ext cx="300" cy="36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0" tIns="0" rIns="0" bIns="0">
              <a:noAutofit/>
            </a:bodyPr>
            <a:lstStyle/>
            <a:p>
              <a:pPr algn="ctr">
                <a:defRPr sz="1350" b="1">
                  <a:solidFill>
                    <a:srgbClr val="28A69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1">
                  <a:solidFill>
                    <a:srgbClr val="28A69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•</a:t>
              </a:r>
              <a:endParaRPr sz="2000" b="1">
                <a:solidFill>
                  <a:srgbClr val="28A69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36" name="矩形 35"/>
            <p:cNvSpPr>
              <a:spLocks noGrp="1"/>
            </p:cNvSpPr>
            <p:nvPr/>
          </p:nvSpPr>
          <p:spPr>
            <a:xfrm>
              <a:off x="10170" y="6105"/>
              <a:ext cx="6030" cy="6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0" tIns="0" rIns="38100" bIns="0">
              <a:noAutofit/>
            </a:bodyPr>
            <a:lstStyle/>
            <a:p>
              <a:pPr algn="l">
                <a:defRPr sz="1350" b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0">
                  <a:solidFill>
                    <a:srgbClr val="47556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相似度矩阵是后续预测评分和 Top-N 排序的基础</a:t>
              </a:r>
              <a:endParaRPr sz="2000" b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7" name="圆角矩形 36"/>
          <p:cNvSpPr>
            <a:spLocks noGrp="1"/>
          </p:cNvSpPr>
          <p:nvPr/>
        </p:nvSpPr>
        <p:spPr>
          <a:xfrm>
            <a:off x="1219200" y="5143500"/>
            <a:ext cx="9525000" cy="3175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1219200" y="5143500"/>
            <a:ext cx="76200" cy="1039495"/>
          </a:xfrm>
          <a:prstGeom prst="roundRect">
            <a:avLst>
              <a:gd name="adj" fmla="val 33333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409700" y="5210810"/>
            <a:ext cx="9201150" cy="90551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 fontScale="90000"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如果两部电影被相似的一批用户给予相近评分，则它们在偏好空间中也可能相似。该</a:t>
            </a:r>
            <a:r>
              <a:rPr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基于物品的方法适合电影场景：电影集合相对稳定，</a:t>
            </a:r>
            <a:r>
              <a:rPr lang="zh-CN" altLang="en-US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通过计算电影之间的相似度，可以根据某个用户已经评分的电影推断其对未评分电影的兴趣程度。</a:t>
            </a:r>
            <a:endParaRPr lang="zh-CN" altLang="en-US" sz="20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rcRect l="5323" t="26391" r="13938" b="1425"/>
          <a:stretch>
            <a:fillRect/>
          </a:stretch>
        </p:blipFill>
        <p:spPr>
          <a:xfrm>
            <a:off x="6625590" y="2213610"/>
            <a:ext cx="3053080" cy="996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预测评分：Top-K 邻居加权计算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模型原理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70560" y="1504950"/>
            <a:ext cx="1520190" cy="120078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657350"/>
            <a:ext cx="127635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目标电影 i</a:t>
            </a:r>
            <a:endParaRPr sz="18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089150"/>
            <a:ext cx="1276350" cy="2476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用户未评分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47900" y="1809750"/>
            <a:ext cx="457200" cy="3810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ctr">
              <a:defRPr sz="2250" b="1">
                <a:solidFill>
                  <a:srgbClr val="2F80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F80B7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→</a:t>
            </a:r>
            <a:endParaRPr sz="2000" b="1">
              <a:solidFill>
                <a:srgbClr val="2F80B7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963545" y="1504950"/>
            <a:ext cx="1513205" cy="12014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05150" y="1657350"/>
            <a:ext cx="127635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已评分电影</a:t>
            </a:r>
            <a:endParaRPr sz="18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37205" y="2002790"/>
            <a:ext cx="1417955" cy="356235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用户历史偏好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33900" y="1809750"/>
            <a:ext cx="457200" cy="3810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ctr">
              <a:defRPr sz="2250" b="1">
                <a:solidFill>
                  <a:srgbClr val="2F80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F80B7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→</a:t>
            </a:r>
            <a:endParaRPr sz="2000" b="1">
              <a:solidFill>
                <a:srgbClr val="2F80B7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285740" y="1504950"/>
            <a:ext cx="1477010" cy="12014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91150" y="1657350"/>
            <a:ext cx="127635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Top-K 邻居</a:t>
            </a:r>
            <a:endParaRPr sz="18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91150" y="1981200"/>
            <a:ext cx="1276350" cy="2476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按相似度筛选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19900" y="1809750"/>
            <a:ext cx="457200" cy="3810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ctr">
              <a:defRPr sz="2250" b="1">
                <a:solidFill>
                  <a:srgbClr val="2F80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F80B7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→</a:t>
            </a:r>
            <a:endParaRPr sz="2000" b="1">
              <a:solidFill>
                <a:srgbClr val="2F80B7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550150" y="1504950"/>
            <a:ext cx="1498600" cy="120078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77150" y="1657350"/>
            <a:ext cx="127635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加权预测</a:t>
            </a:r>
            <a:endParaRPr sz="18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77150" y="1981200"/>
            <a:ext cx="1276350" cy="2476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相似度 × 评分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5900" y="1809750"/>
            <a:ext cx="457200" cy="3810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ctr">
              <a:defRPr sz="2250" b="1">
                <a:solidFill>
                  <a:srgbClr val="2F80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F80B7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→</a:t>
            </a:r>
            <a:endParaRPr sz="2000" b="1">
              <a:solidFill>
                <a:srgbClr val="2F80B7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857740" y="1504950"/>
            <a:ext cx="1477010" cy="120078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963150" y="1657350"/>
            <a:ext cx="127635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Top-N 输出</a:t>
            </a:r>
            <a:endParaRPr sz="18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963150" y="1981200"/>
            <a:ext cx="1276350" cy="2476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按分数排序</a:t>
            </a:r>
            <a:endParaRPr sz="180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07415" y="3181350"/>
            <a:ext cx="4861560" cy="3059430"/>
          </a:xfrm>
          <a:prstGeom prst="roundRect">
            <a:avLst>
              <a:gd name="adj" fmla="val 5063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44575" y="3232150"/>
            <a:ext cx="4724400" cy="37211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7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预测公式</a:t>
            </a:r>
            <a:r>
              <a:rPr lang="zh-CN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（用户</a:t>
            </a:r>
            <a:r>
              <a:rPr lang="en-US" altLang="zh-CN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u</a:t>
            </a:r>
            <a:r>
              <a:rPr lang="zh-CN" altLang="en-US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对未评分电影</a:t>
            </a:r>
            <a:r>
              <a:rPr lang="en-US" altLang="zh-CN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）</a:t>
            </a:r>
            <a:r>
              <a:rPr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的含义</a:t>
            </a:r>
            <a:endParaRPr sz="20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09700" y="4754245"/>
            <a:ext cx="190500" cy="22860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76400" y="4744720"/>
            <a:ext cx="4092575" cy="29591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只使用目标用户已经评分过的电影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409700" y="5039995"/>
            <a:ext cx="190500" cy="22860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676400" y="5030470"/>
            <a:ext cx="4092575" cy="29591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邻居越相似，对预测分数影响越大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409700" y="5325745"/>
            <a:ext cx="190500" cy="22860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676400" y="5316220"/>
            <a:ext cx="3715385" cy="63119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top_k 控制参与预测的相似电影数量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572250" y="3181350"/>
            <a:ext cx="4418965" cy="3060065"/>
          </a:xfrm>
          <a:prstGeom prst="roundRect">
            <a:avLst>
              <a:gd name="adj" fmla="val 5063"/>
            </a:avLst>
          </a:prstGeom>
          <a:solidFill>
            <a:srgbClr val="DDF5EF"/>
          </a:solidFill>
          <a:ln w="10478">
            <a:solidFill>
              <a:srgbClr val="BFE7DE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896100" y="3232150"/>
            <a:ext cx="2286000" cy="28575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725" b="1">
                <a:solidFill>
                  <a:srgbClr val="126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685F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推荐列表的含义</a:t>
            </a:r>
            <a:endParaRPr sz="2000" b="1">
              <a:solidFill>
                <a:srgbClr val="12685F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6934200" y="3750310"/>
            <a:ext cx="3950335" cy="308610"/>
            <a:chOff x="10920" y="6195"/>
            <a:chExt cx="6221" cy="486"/>
          </a:xfrm>
        </p:grpSpPr>
        <p:sp>
          <p:nvSpPr>
            <p:cNvPr id="35" name="矩形 34"/>
            <p:cNvSpPr>
              <a:spLocks noGrp="1"/>
            </p:cNvSpPr>
            <p:nvPr/>
          </p:nvSpPr>
          <p:spPr>
            <a:xfrm>
              <a:off x="10920" y="6195"/>
              <a:ext cx="300" cy="360"/>
            </a:xfrm>
            <a:prstGeom prst="rect">
              <a:avLst/>
            </a:prstGeom>
            <a:solidFill>
              <a:srgbClr val="DDF5EF"/>
            </a:solidFill>
            <a:ln w="10478">
              <a:solidFill>
                <a:srgbClr val="DDF5EF"/>
              </a:solidFill>
            </a:ln>
          </p:spPr>
          <p:txBody>
            <a:bodyPr wrap="square" lIns="0" tIns="0" rIns="0" bIns="0">
              <a:noAutofit/>
            </a:bodyPr>
            <a:lstStyle/>
            <a:p>
              <a:pPr algn="ctr">
                <a:defRPr sz="1350" b="1">
                  <a:solidFill>
                    <a:srgbClr val="28A69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1">
                  <a:solidFill>
                    <a:srgbClr val="28A69A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•</a:t>
              </a:r>
              <a:endPara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36" name="矩形 35"/>
            <p:cNvSpPr>
              <a:spLocks noGrp="1"/>
            </p:cNvSpPr>
            <p:nvPr/>
          </p:nvSpPr>
          <p:spPr>
            <a:xfrm>
              <a:off x="11340" y="6196"/>
              <a:ext cx="5801" cy="485"/>
            </a:xfrm>
            <a:prstGeom prst="rect">
              <a:avLst/>
            </a:prstGeom>
            <a:solidFill>
              <a:srgbClr val="DDF5EF"/>
            </a:solidFill>
            <a:ln w="10478">
              <a:solidFill>
                <a:srgbClr val="DDF5EF"/>
              </a:solidFill>
            </a:ln>
          </p:spPr>
          <p:txBody>
            <a:bodyPr wrap="square" lIns="0" tIns="0" rIns="38100" bIns="0">
              <a:noAutofit/>
            </a:bodyPr>
            <a:lstStyle/>
            <a:p>
              <a:pPr algn="l">
                <a:defRPr sz="1350" b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0">
                  <a:solidFill>
                    <a:srgbClr val="475569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对所有未评分电影计算候选分数</a:t>
              </a:r>
              <a:endPara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sp>
        <p:nvSpPr>
          <p:cNvPr id="37" name="矩形 36"/>
          <p:cNvSpPr>
            <a:spLocks noGrp="1"/>
          </p:cNvSpPr>
          <p:nvPr/>
        </p:nvSpPr>
        <p:spPr>
          <a:xfrm>
            <a:off x="6934200" y="4219575"/>
            <a:ext cx="190500" cy="2286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200900" y="4210050"/>
            <a:ext cx="3397885" cy="620395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按预测或重排序分数从高到低排列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934200" y="4981575"/>
            <a:ext cx="3389630" cy="773430"/>
            <a:chOff x="10920" y="7080"/>
            <a:chExt cx="5338" cy="1218"/>
          </a:xfrm>
        </p:grpSpPr>
        <p:sp>
          <p:nvSpPr>
            <p:cNvPr id="39" name="矩形 38"/>
            <p:cNvSpPr>
              <a:spLocks noGrp="1"/>
            </p:cNvSpPr>
            <p:nvPr/>
          </p:nvSpPr>
          <p:spPr>
            <a:xfrm>
              <a:off x="10920" y="7095"/>
              <a:ext cx="300" cy="360"/>
            </a:xfrm>
            <a:prstGeom prst="rect">
              <a:avLst/>
            </a:prstGeom>
            <a:solidFill>
              <a:srgbClr val="DDF5EF"/>
            </a:solidFill>
            <a:ln w="10478">
              <a:solidFill>
                <a:srgbClr val="DDF5EF"/>
              </a:solidFill>
            </a:ln>
          </p:spPr>
          <p:txBody>
            <a:bodyPr wrap="square" lIns="0" tIns="0" rIns="0" bIns="0">
              <a:noAutofit/>
            </a:bodyPr>
            <a:lstStyle/>
            <a:p>
              <a:pPr algn="ctr">
                <a:defRPr sz="1350" b="1">
                  <a:solidFill>
                    <a:srgbClr val="28A69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1">
                  <a:solidFill>
                    <a:srgbClr val="28A69A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•</a:t>
              </a:r>
              <a:endPara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40" name="矩形 39"/>
            <p:cNvSpPr>
              <a:spLocks noGrp="1"/>
            </p:cNvSpPr>
            <p:nvPr/>
          </p:nvSpPr>
          <p:spPr>
            <a:xfrm>
              <a:off x="11340" y="7080"/>
              <a:ext cx="4919" cy="1218"/>
            </a:xfrm>
            <a:prstGeom prst="rect">
              <a:avLst/>
            </a:prstGeom>
            <a:solidFill>
              <a:srgbClr val="DDF5EF"/>
            </a:solidFill>
            <a:ln w="10478">
              <a:solidFill>
                <a:srgbClr val="DDF5EF"/>
              </a:solidFill>
            </a:ln>
          </p:spPr>
          <p:txBody>
            <a:bodyPr wrap="square" lIns="0" tIns="0" rIns="38100" bIns="0">
              <a:noAutofit/>
            </a:bodyPr>
            <a:lstStyle/>
            <a:p>
              <a:pPr algn="l">
                <a:defRPr sz="1350" b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0">
                  <a:solidFill>
                    <a:srgbClr val="475569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最终输出用户可查看的 Top-N 推荐</a:t>
              </a:r>
              <a:endPara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sp>
        <p:nvSpPr>
          <p:cNvPr id="44" name="矩形 43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64748B"/>
                </a:solidFill>
              </a:rPr>
              <a:t>A06 电影推荐系统 | MovieLens ml-latest-small</a:t>
            </a:r>
            <a:endParaRPr b="0">
              <a:solidFill>
                <a:srgbClr val="64748B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64748B"/>
                </a:solidFill>
                <a:cs typeface="微软雅黑" panose="020B0503020204020204" charset="-122"/>
              </a:rPr>
              <a:t>7/13</a:t>
            </a:r>
            <a:endParaRPr b="0">
              <a:solidFill>
                <a:srgbClr val="64748B"/>
              </a:solidFill>
              <a:cs typeface="微软雅黑" panose="020B0503020204020204" charset="-122"/>
            </a:endParaRPr>
          </a:p>
        </p:txBody>
      </p:sp>
      <p:pic>
        <p:nvPicPr>
          <p:cNvPr id="47" name="图片 46" descr="屏幕截图 2026-06-06 1710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365" y="3604260"/>
            <a:ext cx="264795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模型优化：降低相似度噪声，稳定 Top-N 排序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模型方法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grpSp>
        <p:nvGrpSpPr>
          <p:cNvPr id="33" name="组合 32"/>
          <p:cNvGrpSpPr/>
          <p:nvPr/>
        </p:nvGrpSpPr>
        <p:grpSpPr>
          <a:xfrm>
            <a:off x="704850" y="1927225"/>
            <a:ext cx="4476750" cy="3429000"/>
            <a:chOff x="1110" y="2100"/>
            <a:chExt cx="7050" cy="5400"/>
          </a:xfrm>
        </p:grpSpPr>
        <p:sp>
          <p:nvSpPr>
            <p:cNvPr id="6" name="圆角矩形 5"/>
            <p:cNvSpPr>
              <a:spLocks noGrp="1"/>
            </p:cNvSpPr>
            <p:nvPr/>
          </p:nvSpPr>
          <p:spPr>
            <a:xfrm>
              <a:off x="1110" y="2100"/>
              <a:ext cx="7050" cy="54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0478">
              <a:solidFill>
                <a:srgbClr val="D8E2EC"/>
              </a:solidFill>
            </a:ln>
          </p:spPr>
        </p:sp>
        <p:sp>
          <p:nvSpPr>
            <p:cNvPr id="7" name="矩形 6"/>
            <p:cNvSpPr>
              <a:spLocks noGrp="1"/>
            </p:cNvSpPr>
            <p:nvPr/>
          </p:nvSpPr>
          <p:spPr>
            <a:xfrm>
              <a:off x="1620" y="2580"/>
              <a:ext cx="3900" cy="48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38100" tIns="19050" rIns="38100" bIns="19050">
              <a:noAutofit/>
            </a:bodyPr>
            <a:lstStyle/>
            <a:p>
              <a:pPr algn="l">
                <a:defRPr sz="1875" b="1">
                  <a:solidFill>
                    <a:srgbClr val="174D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1">
                  <a:solidFill>
                    <a:srgbClr val="174D73"/>
                  </a:solidFill>
                  <a:latin typeface="Times New Roman" panose="02020603050405020304" charset="0"/>
                  <a:ea typeface="宋体" panose="02010600030101010101" pitchFamily="2" charset="-122"/>
                  <a:cs typeface="宋体" panose="02010600030101010101" pitchFamily="2" charset="-122"/>
                </a:rPr>
                <a:t>NumPy 基线模型</a:t>
              </a:r>
              <a:endParaRPr sz="20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Grp="1"/>
            </p:cNvSpPr>
            <p:nvPr/>
          </p:nvSpPr>
          <p:spPr>
            <a:xfrm>
              <a:off x="1710" y="3645"/>
              <a:ext cx="300" cy="36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0" tIns="0" rIns="0" bIns="0">
              <a:noAutofit/>
            </a:bodyPr>
            <a:lstStyle/>
            <a:p>
              <a:pPr algn="ctr">
                <a:defRPr sz="1500" b="1">
                  <a:solidFill>
                    <a:srgbClr val="28A69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1">
                  <a:solidFill>
                    <a:srgbClr val="28A69A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•</a:t>
              </a:r>
              <a:endPara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9" name="矩形 8"/>
            <p:cNvSpPr>
              <a:spLocks noGrp="1"/>
            </p:cNvSpPr>
            <p:nvPr/>
          </p:nvSpPr>
          <p:spPr>
            <a:xfrm>
              <a:off x="2130" y="3630"/>
              <a:ext cx="5644" cy="587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0" tIns="0" rIns="38100" bIns="0">
              <a:noAutofit/>
            </a:bodyPr>
            <a:lstStyle/>
            <a:p>
              <a:pPr algn="l">
                <a:defRPr sz="1500" b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0">
                  <a:solidFill>
                    <a:srgbClr val="475569"/>
                  </a:solidFill>
                  <a:latin typeface="Times New Roman" panose="02020603050405020304" charset="0"/>
                  <a:ea typeface="宋体" panose="02010600030101010101" pitchFamily="2" charset="-122"/>
                  <a:cs typeface="宋体" panose="02010600030101010101" pitchFamily="2" charset="-122"/>
                </a:rPr>
                <a:t>手写余弦相似度，缺失评分填 0</a:t>
              </a:r>
              <a:endPara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矩形 9"/>
            <p:cNvSpPr>
              <a:spLocks noGrp="1"/>
            </p:cNvSpPr>
            <p:nvPr/>
          </p:nvSpPr>
          <p:spPr>
            <a:xfrm>
              <a:off x="1710" y="4215"/>
              <a:ext cx="300" cy="36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0" tIns="0" rIns="0" bIns="0">
              <a:noAutofit/>
            </a:bodyPr>
            <a:lstStyle/>
            <a:p>
              <a:pPr algn="ctr">
                <a:defRPr sz="1500" b="1">
                  <a:solidFill>
                    <a:srgbClr val="28A69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1">
                  <a:solidFill>
                    <a:srgbClr val="28A69A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•</a:t>
              </a:r>
              <a:endPara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11" name="矩形 10"/>
            <p:cNvSpPr>
              <a:spLocks noGrp="1"/>
            </p:cNvSpPr>
            <p:nvPr/>
          </p:nvSpPr>
          <p:spPr>
            <a:xfrm>
              <a:off x="2130" y="4200"/>
              <a:ext cx="5130" cy="584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0" tIns="0" rIns="38100" bIns="0">
              <a:normAutofit/>
            </a:bodyPr>
            <a:lstStyle/>
            <a:p>
              <a:pPr algn="l">
                <a:defRPr sz="1500" b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0">
                  <a:solidFill>
                    <a:srgbClr val="475569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结构透明，作为对照组</a:t>
              </a:r>
              <a:endPara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1710" y="4785"/>
              <a:ext cx="300" cy="36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0" tIns="0" rIns="0" bIns="0">
              <a:noAutofit/>
            </a:bodyPr>
            <a:lstStyle/>
            <a:p>
              <a:pPr algn="ctr">
                <a:defRPr sz="1500" b="1">
                  <a:solidFill>
                    <a:srgbClr val="28A69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1">
                  <a:solidFill>
                    <a:srgbClr val="28A69A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•</a:t>
              </a:r>
              <a:endPara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2130" y="4770"/>
              <a:ext cx="4980" cy="57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0" tIns="0" rIns="38100" bIns="0">
              <a:normAutofit/>
            </a:bodyPr>
            <a:lstStyle/>
            <a:p>
              <a:pPr algn="l">
                <a:defRPr sz="1500" b="0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00" b="0">
                  <a:solidFill>
                    <a:srgbClr val="475569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帮助判断优化是否真的有效</a:t>
              </a:r>
              <a:endPara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1710" y="6300"/>
              <a:ext cx="4200" cy="36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FFFFFF"/>
              </a:solidFill>
            </a:ln>
          </p:spPr>
          <p:txBody>
            <a:bodyPr wrap="square" lIns="38100" tIns="19050" rIns="38100" bIns="19050">
              <a:noAutofit/>
            </a:bodyPr>
            <a:lstStyle/>
            <a:p>
              <a:pPr algn="l">
                <a:defRPr sz="1275" b="1">
                  <a:solidFill>
                    <a:srgbClr val="2F80B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900" b="1">
                  <a:solidFill>
                    <a:srgbClr val="2F80B7"/>
                  </a:solidFill>
                  <a:latin typeface="Times New Roman" panose="02020603050405020304" charset="0"/>
                  <a:ea typeface="宋体" panose="02010600030101010101" pitchFamily="2" charset="-122"/>
                  <a:cs typeface="微软雅黑" panose="020B0503020204020204" charset="-122"/>
                </a:rPr>
                <a:t>baseline_numpy_item_cf</a:t>
              </a:r>
              <a:endParaRPr sz="1900" b="1">
                <a:solidFill>
                  <a:srgbClr val="2F80B7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sp>
        <p:nvSpPr>
          <p:cNvPr id="15" name="矩形 14"/>
          <p:cNvSpPr>
            <a:spLocks noGrp="1"/>
          </p:cNvSpPr>
          <p:nvPr/>
        </p:nvSpPr>
        <p:spPr>
          <a:xfrm>
            <a:off x="5600700" y="3461385"/>
            <a:ext cx="666750" cy="5715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ctr">
              <a:defRPr sz="36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55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→</a:t>
            </a:r>
            <a:endParaRPr sz="2055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724650" y="1333500"/>
            <a:ext cx="4762500" cy="454469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048500" y="1638300"/>
            <a:ext cx="2476500" cy="3048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8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174D73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scikit</a:t>
            </a:r>
            <a:r>
              <a:rPr lang="en-US" sz="2000">
                <a:solidFill>
                  <a:srgbClr val="174D73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-learn</a:t>
            </a:r>
            <a:r>
              <a:rPr sz="2000" b="1">
                <a:solidFill>
                  <a:srgbClr val="174D73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模型</a:t>
            </a:r>
            <a:endParaRPr sz="2000" b="1">
              <a:solidFill>
                <a:srgbClr val="174D73"/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067550" y="2247900"/>
            <a:ext cx="3905250" cy="495300"/>
          </a:xfrm>
          <a:prstGeom prst="roundRect">
            <a:avLst>
              <a:gd name="adj" fmla="val 15385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58050" y="2324100"/>
            <a:ext cx="1809750" cy="2095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用户均值中心化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067550" y="2952750"/>
            <a:ext cx="3905250" cy="495300"/>
          </a:xfrm>
          <a:prstGeom prst="roundRect">
            <a:avLst>
              <a:gd name="adj" fmla="val 15385"/>
            </a:avLst>
          </a:prstGeom>
          <a:solidFill>
            <a:srgbClr val="DDF5EF"/>
          </a:solidFill>
          <a:ln w="10478">
            <a:solidFill>
              <a:srgbClr val="BFE7DE"/>
            </a:solidFill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258050" y="3043555"/>
            <a:ext cx="3238500" cy="386715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shrinkage + 共评约束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圆角矩形 2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067550" y="3657600"/>
            <a:ext cx="3905250" cy="495300"/>
          </a:xfrm>
          <a:prstGeom prst="roundRect">
            <a:avLst>
              <a:gd name="adj" fmla="val 15385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258050" y="3730625"/>
            <a:ext cx="2826385" cy="212725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2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Top-N 轻量重排序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075" y="4362450"/>
            <a:ext cx="3686175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实验设计与评价指标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评估方法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409700"/>
            <a:ext cx="10458450" cy="143319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1603375"/>
            <a:ext cx="4572000" cy="3048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80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按用户隐藏一部分历史评分作为测试集</a:t>
            </a:r>
            <a:endParaRPr sz="19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2057400"/>
            <a:ext cx="8096250" cy="2667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测试比例 0.2，随机种子 42；正式结论使用 475 个可评估用户、14093 条测试评分。</a:t>
            </a:r>
            <a:endParaRPr sz="2000" b="0">
              <a:solidFill>
                <a:srgbClr val="475569"/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157720" y="1657350"/>
            <a:ext cx="1836420" cy="34290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76200" tIns="47625" rIns="76200" bIns="38100">
            <a:noAutofit/>
          </a:bodyPr>
          <a:lstStyle/>
          <a:p>
            <a:pPr algn="ct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Train Matrix</a:t>
            </a:r>
            <a:endParaRPr sz="1800" b="1">
              <a:solidFill>
                <a:srgbClr val="174D7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91600" y="1647825"/>
            <a:ext cx="323850" cy="3048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 fontScale="93333"/>
          </a:bodyPr>
          <a:lstStyle/>
          <a:p>
            <a:pPr algn="ctr">
              <a:defRPr sz="187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875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429750" y="165735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76200" tIns="47625" rIns="76200" bIns="38100">
            <a:noAutofit/>
          </a:bodyPr>
          <a:lstStyle/>
          <a:p>
            <a:pPr algn="ctr">
              <a:defRPr sz="1125" b="1">
                <a:solidFill>
                  <a:srgbClr val="9A4B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9A4B1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Hidden Test</a:t>
            </a:r>
            <a:endParaRPr sz="1800" b="1">
              <a:solidFill>
                <a:srgbClr val="9A4B17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276600"/>
            <a:ext cx="4819650" cy="2600325"/>
          </a:xfrm>
          <a:prstGeom prst="roundRect">
            <a:avLst>
              <a:gd name="adj" fmla="val 4211"/>
            </a:avLst>
          </a:prstGeom>
          <a:solidFill>
            <a:srgbClr val="DDEEFF"/>
          </a:solidFill>
          <a:ln w="10478">
            <a:solidFill>
              <a:srgbClr val="C8DDF0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00150" y="3562350"/>
            <a:ext cx="2286000" cy="3238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rmAutofit lnSpcReduction="10000"/>
          </a:bodyPr>
          <a:lstStyle/>
          <a:p>
            <a:pPr algn="l">
              <a:defRPr sz="187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评分预测指标</a:t>
            </a:r>
            <a:endParaRPr sz="20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38250" y="4105275"/>
            <a:ext cx="196850" cy="607695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04950" y="4095750"/>
            <a:ext cx="3470910" cy="75946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RMSE：对大误差更敏感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38250" y="4509770"/>
            <a:ext cx="196850" cy="607695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04950" y="4500245"/>
            <a:ext cx="3470910" cy="75946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MAE：平均绝对误差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38250" y="4914265"/>
            <a:ext cx="196850" cy="607695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04950" y="4904740"/>
            <a:ext cx="3470910" cy="75946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Weighted 指标：按测试评分数加权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457950" y="3276600"/>
            <a:ext cx="4780915" cy="2600325"/>
          </a:xfrm>
          <a:prstGeom prst="roundRect">
            <a:avLst>
              <a:gd name="adj" fmla="val 4211"/>
            </a:avLst>
          </a:prstGeom>
          <a:solidFill>
            <a:srgbClr val="DDF5EF"/>
          </a:solidFill>
          <a:ln w="10478">
            <a:solidFill>
              <a:srgbClr val="BFE7DE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781800" y="3562350"/>
            <a:ext cx="2476500" cy="32385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875" b="1">
                <a:solidFill>
                  <a:srgbClr val="126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2685F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Top-N 推荐指标</a:t>
            </a:r>
            <a:endParaRPr sz="1900" b="1">
              <a:solidFill>
                <a:srgbClr val="12685F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19900" y="4105275"/>
            <a:ext cx="190500" cy="2286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86600" y="4041775"/>
            <a:ext cx="4013200" cy="339725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Precision@K：推荐列表前部精度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19900" y="4477385"/>
            <a:ext cx="190500" cy="2286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86600" y="4467225"/>
            <a:ext cx="3771900" cy="286385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Recall@K：相关电影覆盖程度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19900" y="4914265"/>
            <a:ext cx="190500" cy="2286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86600" y="4904740"/>
            <a:ext cx="3772535" cy="64389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HitRate@K：用户层面是否命中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模型对比：主模型预测误差更低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结果分析</a:t>
            </a:r>
            <a:endParaRPr sz="1050" b="0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" y="1295400"/>
            <a:ext cx="7932420" cy="3429635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8382000" y="1209675"/>
            <a:ext cx="3143250" cy="3841115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1515745"/>
            <a:ext cx="1714500" cy="2857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80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结论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479155" y="1944736"/>
            <a:ext cx="215195" cy="258234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27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80428" y="1928495"/>
            <a:ext cx="2620362" cy="781876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RMSE：0.822211 → 0.798196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79155" y="2774471"/>
            <a:ext cx="215195" cy="258234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27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780428" y="2763711"/>
            <a:ext cx="2388668" cy="45191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MAE：0.661575 → 0.638230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479155" y="3593411"/>
            <a:ext cx="215195" cy="258234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27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780428" y="3582651"/>
            <a:ext cx="2388668" cy="45191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Precision@K：0.060842 → 0.064842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79155" y="4390761"/>
            <a:ext cx="215195" cy="258234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27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780428" y="4380002"/>
            <a:ext cx="2388668" cy="45191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Recall / HitRate 略低于基线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104900" y="5219700"/>
            <a:ext cx="9601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1104900" y="5219700"/>
            <a:ext cx="57150" cy="609600"/>
          </a:xfrm>
          <a:prstGeom prst="roundRect">
            <a:avLst>
              <a:gd name="adj" fmla="val 33333"/>
            </a:avLst>
          </a:prstGeom>
          <a:solidFill>
            <a:srgbClr val="28A69A"/>
          </a:solidFill>
          <a:ln w="10478">
            <a:solidFill>
              <a:srgbClr val="28A69A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95400" y="5353050"/>
            <a:ext cx="9277350" cy="3429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主模型在评分预测和推荐列表前部精度上更优，但覆盖率指标仍有提升空间。</a:t>
            </a:r>
            <a:endParaRPr sz="20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</a:t>
            </a: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参数敏感性与稳定性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结果分析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" y="986790"/>
            <a:ext cx="5817870" cy="4119245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343650" y="1200150"/>
            <a:ext cx="5474335" cy="388175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055" y="1461135"/>
            <a:ext cx="5126355" cy="111633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386830" y="2758440"/>
            <a:ext cx="5409565" cy="42672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稳定性评估用于观察不同随机划分下主要指标的波动</a:t>
            </a:r>
            <a:endParaRPr sz="18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705600" y="3234055"/>
            <a:ext cx="1905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72300" y="3224530"/>
            <a:ext cx="3829050" cy="3238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Arial" panose="020B0604020202020204" pitchFamily="34" charset="0"/>
              </a:rPr>
              <a:t>top_k = 20 时主模型 RMSE / MAE 最低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05600" y="3860165"/>
            <a:ext cx="1905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972300" y="3850640"/>
            <a:ext cx="3829050" cy="3238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Arial" panose="020B0604020202020204" pitchFamily="34" charset="0"/>
              </a:rPr>
              <a:t>top_k = 10 时 Precision@K 和 HitRate@K 更高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705600" y="4605020"/>
            <a:ext cx="1905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35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72300" y="4595495"/>
            <a:ext cx="3829050" cy="3238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0" tIns="0" rIns="38100" bIns="0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参数选择需要结合应用目标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04900" y="5257800"/>
            <a:ext cx="9601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1104900" y="5257800"/>
            <a:ext cx="57150" cy="609600"/>
          </a:xfrm>
          <a:prstGeom prst="roundRect">
            <a:avLst>
              <a:gd name="adj" fmla="val 33333"/>
            </a:avLst>
          </a:prstGeom>
          <a:solidFill>
            <a:srgbClr val="2F80B7"/>
          </a:solidFill>
          <a:ln w="10478">
            <a:solidFill>
              <a:srgbClr val="2F80B7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95400" y="5391150"/>
            <a:ext cx="9277350" cy="3429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评分预测误差与 Top-N 排序效果存在权衡</a:t>
            </a:r>
            <a:r>
              <a:rPr lang="zh-CN" altLang="en-US" sz="2000" b="1">
                <a:solidFill>
                  <a:srgbClr val="174D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，参数选择需要结合最终应用目标。</a:t>
            </a:r>
            <a:endParaRPr lang="zh-CN" altLang="en-US" sz="2000" b="1">
              <a:solidFill>
                <a:srgbClr val="174D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推荐案例与 Demo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结果展示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90550" y="1200150"/>
            <a:ext cx="5143500" cy="489839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1466850"/>
            <a:ext cx="2476500" cy="28575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80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userId = 1 推荐案例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95655" y="2033270"/>
            <a:ext cx="1112520" cy="323215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排名</a:t>
            </a:r>
            <a:endParaRPr sz="2000" b="1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19250" y="2019300"/>
            <a:ext cx="2476500" cy="22860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电影</a:t>
            </a:r>
            <a:endParaRPr sz="2000" b="1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05250" y="2005965"/>
            <a:ext cx="1190625" cy="241935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64748B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预测分</a:t>
            </a:r>
            <a:endParaRPr sz="2000" b="1">
              <a:solidFill>
                <a:srgbClr val="64748B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14400" y="2381250"/>
            <a:ext cx="4095750" cy="323850"/>
          </a:xfrm>
          <a:prstGeom prst="roundRect">
            <a:avLst>
              <a:gd name="adj" fmla="val 17647"/>
            </a:avLst>
          </a:prstGeom>
          <a:solidFill>
            <a:srgbClr val="DDEEFF"/>
          </a:solidFill>
          <a:ln w="10478">
            <a:solidFill>
              <a:srgbClr val="DDEEF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2419350"/>
            <a:ext cx="381000" cy="2095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endParaRPr sz="19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19250" y="2419350"/>
            <a:ext cx="2286000" cy="2095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0">
                <a:solidFill>
                  <a:srgbClr val="0F172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Kill Bill: Vol. 1</a:t>
            </a:r>
            <a:endParaRPr sz="1900" b="0">
              <a:solidFill>
                <a:srgbClr val="0F172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05250" y="2461895"/>
            <a:ext cx="933450" cy="167005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4.9597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14400" y="2948940"/>
            <a:ext cx="409575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0478">
            <a:solidFill>
              <a:srgbClr val="F8FAFC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47750" y="2987040"/>
            <a:ext cx="381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2</a:t>
            </a:r>
            <a:endParaRPr sz="19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19250" y="2987040"/>
            <a:ext cx="2286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0">
                <a:solidFill>
                  <a:srgbClr val="0F172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Star Trek</a:t>
            </a:r>
            <a:endParaRPr sz="1900" b="0">
              <a:solidFill>
                <a:srgbClr val="0F172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03015" y="2987040"/>
            <a:ext cx="1035685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4.9518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14400" y="3495040"/>
            <a:ext cx="4095750" cy="323850"/>
          </a:xfrm>
          <a:prstGeom prst="roundRect">
            <a:avLst>
              <a:gd name="adj" fmla="val 17647"/>
            </a:avLst>
          </a:prstGeom>
          <a:solidFill>
            <a:srgbClr val="DDEEFF"/>
          </a:solidFill>
          <a:ln w="10478">
            <a:solidFill>
              <a:srgbClr val="DDEEF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47750" y="3533140"/>
            <a:ext cx="381000" cy="2095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3</a:t>
            </a:r>
            <a:endParaRPr sz="19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19250" y="3533140"/>
            <a:ext cx="2286000" cy="2095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0">
                <a:solidFill>
                  <a:srgbClr val="0F172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Garden State</a:t>
            </a:r>
            <a:endParaRPr sz="1900" b="0">
              <a:solidFill>
                <a:srgbClr val="0F172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803650" y="3493770"/>
            <a:ext cx="1035050" cy="24892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4.9469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14400" y="3976370"/>
            <a:ext cx="409575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0478">
            <a:solidFill>
              <a:srgbClr val="F8FAFC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47750" y="4014470"/>
            <a:ext cx="381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4</a:t>
            </a:r>
            <a:endParaRPr sz="19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619250" y="4014470"/>
            <a:ext cx="2286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0">
                <a:solidFill>
                  <a:srgbClr val="0F172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American Gangster</a:t>
            </a:r>
            <a:endParaRPr sz="1900" b="0">
              <a:solidFill>
                <a:srgbClr val="0F172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905250" y="4021455"/>
            <a:ext cx="933450" cy="202565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4.9317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14400" y="4522470"/>
            <a:ext cx="4095750" cy="323850"/>
          </a:xfrm>
          <a:prstGeom prst="roundRect">
            <a:avLst>
              <a:gd name="adj" fmla="val 17647"/>
            </a:avLst>
          </a:prstGeom>
          <a:solidFill>
            <a:srgbClr val="DDEEFF"/>
          </a:solidFill>
          <a:ln w="10478">
            <a:solidFill>
              <a:srgbClr val="DDEEFF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47750" y="4560570"/>
            <a:ext cx="381000" cy="2095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5</a:t>
            </a:r>
            <a:endParaRPr sz="19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19250" y="4560570"/>
            <a:ext cx="2286000" cy="2095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0">
                <a:solidFill>
                  <a:srgbClr val="0F172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Amelie</a:t>
            </a:r>
            <a:endParaRPr sz="1900" b="0">
              <a:solidFill>
                <a:srgbClr val="0F172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987800" y="4553585"/>
            <a:ext cx="850900" cy="216535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r">
              <a:defRPr sz="11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4.9225</a:t>
            </a:r>
            <a:endParaRPr sz="19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00125" y="5086350"/>
            <a:ext cx="4095750" cy="656590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推荐案例</a:t>
            </a:r>
            <a:r>
              <a:rPr lang="zh-CN" sz="20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：</a:t>
            </a:r>
            <a:r>
              <a:rPr sz="20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系统为具体用户输出可解释电影列表。</a:t>
            </a:r>
            <a:endParaRPr sz="20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343650" y="1200150"/>
            <a:ext cx="5257800" cy="4891405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478">
            <a:solidFill>
              <a:srgbClr val="D8E2EC"/>
            </a:solidFill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81200"/>
            <a:ext cx="4705350" cy="2647950"/>
          </a:xfrm>
          <a:prstGeom prst="rect">
            <a:avLst/>
          </a:prstGeom>
        </p:spPr>
      </p:pic>
      <p:sp>
        <p:nvSpPr>
          <p:cNvPr id="34" name="矩形 33"/>
          <p:cNvSpPr>
            <a:spLocks noGrp="1"/>
          </p:cNvSpPr>
          <p:nvPr/>
        </p:nvSpPr>
        <p:spPr>
          <a:xfrm>
            <a:off x="6791325" y="5105400"/>
            <a:ext cx="4381500" cy="705485"/>
          </a:xfrm>
          <a:prstGeom prst="rect">
            <a:avLst/>
          </a:prstGeom>
          <a:solidFill>
            <a:srgbClr val="FFFFFF"/>
          </a:solidFill>
          <a:ln w="10478">
            <a:solidFill>
              <a:srgbClr val="FFFFFF"/>
            </a:solidFill>
          </a:ln>
        </p:spPr>
        <p:txBody>
          <a:bodyPr wrap="square" lIns="38100" tIns="19050" rIns="38100" bIns="19050">
            <a:noAutofit/>
          </a:bodyPr>
          <a:lstStyle/>
          <a:p>
            <a:pPr algn="l">
              <a:defRPr sz="135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利用</a:t>
            </a:r>
            <a:r>
              <a:rPr sz="2000"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Streamlit 页面把模型结果转化为可交互展示流程。</a:t>
            </a:r>
            <a:endParaRPr sz="2000"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00050"/>
            <a:ext cx="5143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125" b="1">
              <a:solidFill>
                <a:srgbClr val="28A6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323850"/>
            <a:ext cx="7429500" cy="4572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总结、不足与改进方向</a:t>
            </a:r>
            <a:endParaRPr sz="2325" b="1">
              <a:solidFill>
                <a:srgbClr val="174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0" y="419100"/>
            <a:ext cx="2571750" cy="26670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自然收束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876300"/>
            <a:ext cx="11087100" cy="19050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0478">
            <a:solidFill>
              <a:srgbClr val="D8E2EC"/>
            </a:solidFill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830705"/>
            <a:ext cx="3238500" cy="3143250"/>
          </a:xfrm>
          <a:prstGeom prst="roundRect">
            <a:avLst>
              <a:gd name="adj" fmla="val 2424"/>
            </a:avLst>
          </a:prstGeom>
          <a:solidFill>
            <a:srgbClr val="DDEEFF"/>
          </a:solidFill>
          <a:ln w="10478">
            <a:solidFill>
              <a:srgbClr val="DDEEFF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154555"/>
            <a:ext cx="2286000" cy="34290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38100" tIns="19050" rIns="38100" bIns="19050">
            <a:normAutofit lnSpcReduction="10000"/>
          </a:bodyPr>
          <a:lstStyle/>
          <a:p>
            <a:pPr algn="l">
              <a:defRPr sz="2100" b="1">
                <a:solidFill>
                  <a:srgbClr val="174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174D73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已完成</a:t>
            </a:r>
            <a:endParaRPr b="1">
              <a:solidFill>
                <a:srgbClr val="174D73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811780"/>
            <a:ext cx="190500" cy="22860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76350" y="2802255"/>
            <a:ext cx="2305050" cy="3238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数据清洗与可视化分析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3135630"/>
            <a:ext cx="190500" cy="22860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76350" y="3126105"/>
            <a:ext cx="2305050" cy="3238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稀疏矩阵过滤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09650" y="3459480"/>
            <a:ext cx="190500" cy="22860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76350" y="3449955"/>
            <a:ext cx="2305050" cy="3238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协同过滤建模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09650" y="3783330"/>
            <a:ext cx="190500" cy="22860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76350" y="3773805"/>
            <a:ext cx="2305050" cy="323850"/>
          </a:xfrm>
          <a:prstGeom prst="rect">
            <a:avLst/>
          </a:prstGeom>
          <a:solidFill>
            <a:srgbClr val="DDEEFF"/>
          </a:solidFill>
          <a:ln w="10478">
            <a:solidFill>
              <a:srgbClr val="DDEEF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评估与 Demo 展示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38650" y="1830705"/>
            <a:ext cx="3238500" cy="3143250"/>
          </a:xfrm>
          <a:prstGeom prst="roundRect">
            <a:avLst>
              <a:gd name="adj" fmla="val 2424"/>
            </a:avLst>
          </a:prstGeom>
          <a:solidFill>
            <a:srgbClr val="FFF1E7"/>
          </a:solidFill>
          <a:ln w="10478">
            <a:solidFill>
              <a:srgbClr val="FFF1E7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05350" y="2154555"/>
            <a:ext cx="2286000" cy="34290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38100" tIns="19050" rIns="38100" bIns="19050">
            <a:normAutofit lnSpcReduction="10000"/>
          </a:bodyPr>
          <a:lstStyle/>
          <a:p>
            <a:pPr algn="l">
              <a:defRPr sz="2100" b="1">
                <a:solidFill>
                  <a:srgbClr val="9A4B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9A4B17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当前不足</a:t>
            </a:r>
            <a:endParaRPr b="1">
              <a:solidFill>
                <a:srgbClr val="9A4B17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62500" y="2811780"/>
            <a:ext cx="190500" cy="22860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29200" y="2802255"/>
            <a:ext cx="2305050" cy="32385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0" tIns="0" rIns="38100" bIns="0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矩阵仍然较稀疏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62500" y="3135630"/>
            <a:ext cx="190500" cy="22860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29200" y="3126105"/>
            <a:ext cx="2305050" cy="32385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0" tIns="0" rIns="38100" bIns="0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冷启动处理较简单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762500" y="3459480"/>
            <a:ext cx="190500" cy="22860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29200" y="3449955"/>
            <a:ext cx="2305050" cy="32385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0" tIns="0" rIns="38100" bIns="0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长尾电影推荐受限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762500" y="3783330"/>
            <a:ext cx="190500" cy="22860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029200" y="3773805"/>
            <a:ext cx="2305050" cy="323850"/>
          </a:xfrm>
          <a:prstGeom prst="rect">
            <a:avLst/>
          </a:prstGeom>
          <a:solidFill>
            <a:srgbClr val="FFF1E7"/>
          </a:solidFill>
          <a:ln w="10478">
            <a:solidFill>
              <a:srgbClr val="FFF1E7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尚未充分利用 genres/tags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191500" y="1830705"/>
            <a:ext cx="3238500" cy="3143250"/>
          </a:xfrm>
          <a:prstGeom prst="roundRect">
            <a:avLst>
              <a:gd name="adj" fmla="val 2424"/>
            </a:avLst>
          </a:prstGeom>
          <a:solidFill>
            <a:srgbClr val="DDF5EF"/>
          </a:solidFill>
          <a:ln w="10478">
            <a:solidFill>
              <a:srgbClr val="DDF5EF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458200" y="2154555"/>
            <a:ext cx="2286000" cy="3429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38100" tIns="19050" rIns="38100" bIns="19050">
            <a:normAutofit lnSpcReduction="10000"/>
          </a:bodyPr>
          <a:lstStyle/>
          <a:p>
            <a:pPr algn="l">
              <a:defRPr sz="2100" b="1">
                <a:solidFill>
                  <a:srgbClr val="126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12685F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后续改进</a:t>
            </a:r>
            <a:endParaRPr b="1">
              <a:solidFill>
                <a:srgbClr val="12685F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515350" y="2811780"/>
            <a:ext cx="190500" cy="2286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782050" y="2802255"/>
            <a:ext cx="2305050" cy="32385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协同过滤 + 内容特征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515350" y="3135630"/>
            <a:ext cx="190500" cy="2286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82050" y="3126105"/>
            <a:ext cx="2305050" cy="32385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38100" bIns="0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矩阵分解 SVD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15350" y="3459480"/>
            <a:ext cx="190500" cy="2286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782050" y="3449955"/>
            <a:ext cx="2305050" cy="32385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38100" bIns="0">
            <a:no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NDCG@K / 覆盖率 / 多样性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15350" y="3783330"/>
            <a:ext cx="190500" cy="22860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0" bIns="0">
            <a:noAutofit/>
          </a:bodyPr>
          <a:lstStyle/>
          <a:p>
            <a:pPr algn="ctr">
              <a:defRPr sz="1500" b="1">
                <a:solidFill>
                  <a:srgbClr val="28A6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A69A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•</a:t>
            </a:r>
            <a:endParaRPr sz="2000" b="1">
              <a:solidFill>
                <a:srgbClr val="28A69A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82050" y="3773805"/>
            <a:ext cx="2305050" cy="323850"/>
          </a:xfrm>
          <a:prstGeom prst="rect">
            <a:avLst/>
          </a:prstGeom>
          <a:solidFill>
            <a:srgbClr val="DDF5EF"/>
          </a:solidFill>
          <a:ln w="10478">
            <a:solidFill>
              <a:srgbClr val="DDF5EF"/>
            </a:solidFill>
          </a:ln>
        </p:spPr>
        <p:txBody>
          <a:bodyPr wrap="square" lIns="0" tIns="0" rIns="38100" bIns="0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475569"/>
                </a:solidFill>
                <a:latin typeface="Times New Roman" panose="02020603050405020304" charset="0"/>
                <a:ea typeface="宋体" panose="02010600030101010101" pitchFamily="2" charset="-122"/>
                <a:cs typeface="微软雅黑" panose="020B0503020204020204" charset="-122"/>
              </a:rPr>
              <a:t>分用户活跃度评估</a:t>
            </a:r>
            <a:endParaRPr sz="2000" b="0">
              <a:solidFill>
                <a:srgbClr val="475569"/>
              </a:solidFill>
              <a:latin typeface="Times New Roman" panose="020206030504050203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6419850"/>
            <a:ext cx="723900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A06 电影推荐系统 | MovieLens ml-latest-small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763250" y="6419850"/>
            <a:ext cx="857250" cy="209550"/>
          </a:xfrm>
          <a:prstGeom prst="rect">
            <a:avLst/>
          </a:prstGeom>
          <a:solidFill>
            <a:srgbClr val="F8FAFC"/>
          </a:solidFill>
          <a:ln w="10478">
            <a:solidFill>
              <a:srgbClr val="F8FAFC"/>
            </a:solidFill>
          </a:ln>
        </p:spPr>
        <p:txBody>
          <a:bodyPr wrap="square" lIns="38100" tIns="19050" rIns="38100" bIns="19050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13/13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2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3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4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5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6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7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8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9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10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11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12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13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14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15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16.xml><?xml version="1.0" encoding="utf-8"?>
<p:tagLst xmlns:p="http://schemas.openxmlformats.org/presentationml/2006/main">
  <p:tag name="KSO_WM_DIAGRAM_VIRTUALLY_FRAME" val="{&quot;height&quot;:389.25,&quot;left&quot;:517.5,&quot;top&quot;:111.75,&quot;width&quot;:350.2}"/>
</p:tagLst>
</file>

<file path=ppt/tags/tag17.xml><?xml version="1.0" encoding="utf-8"?>
<p:tagLst xmlns:p="http://schemas.openxmlformats.org/presentationml/2006/main">
  <p:tag name="KSO_WM_DIAGRAM_VIRTUALLY_FRAME" val="{&quot;height&quot;:150,&quot;left&quot;:556.5,&quot;top&quot;:177,&quot;width&quot;:307.5}"/>
</p:tagLst>
</file>

<file path=ppt/tags/tag18.xml><?xml version="1.0" encoding="utf-8"?>
<p:tagLst xmlns:p="http://schemas.openxmlformats.org/presentationml/2006/main">
  <p:tag name="KSO_WM_DIAGRAM_VIRTUALLY_FRAME" val="{&quot;height&quot;:150,&quot;left&quot;:556.5,&quot;top&quot;:177,&quot;width&quot;:307.5}"/>
</p:tagLst>
</file>

<file path=ppt/tags/tag19.xml><?xml version="1.0" encoding="utf-8"?>
<p:tagLst xmlns:p="http://schemas.openxmlformats.org/presentationml/2006/main">
  <p:tag name="KSO_WM_DIAGRAM_VIRTUALLY_FRAME" val="{&quot;height&quot;:150,&quot;left&quot;:556.5,&quot;top&quot;:177,&quot;width&quot;:307.5}"/>
</p:tagLst>
</file>

<file path=ppt/tags/tag20.xml><?xml version="1.0" encoding="utf-8"?>
<p:tagLst xmlns:p="http://schemas.openxmlformats.org/presentationml/2006/main">
  <p:tag name="KSO_WM_DIAGRAM_VIRTUALLY_FRAME" val="{&quot;height&quot;:150,&quot;left&quot;:556.5,&quot;top&quot;:177,&quot;width&quot;:307.5}"/>
</p:tagLst>
</file>

<file path=ppt/tags/tag21.xml><?xml version="1.0" encoding="utf-8"?>
<p:tagLst xmlns:p="http://schemas.openxmlformats.org/presentationml/2006/main">
  <p:tag name="KSO_WM_DIAGRAM_VIRTUALLY_FRAME" val="{&quot;height&quot;:150,&quot;left&quot;:556.5,&quot;top&quot;:177,&quot;width&quot;:307.5}"/>
</p:tagLst>
</file>

<file path=ppt/tags/tag22.xml><?xml version="1.0" encoding="utf-8"?>
<p:tagLst xmlns:p="http://schemas.openxmlformats.org/presentationml/2006/main">
  <p:tag name="KSO_WM_DIAGRAM_VIRTUALLY_FRAME" val="{&quot;height&quot;:150,&quot;left&quot;:556.5,&quot;top&quot;:177,&quot;width&quot;:307.5}"/>
</p:tagLst>
</file>

<file path=ppt/tags/tag23.xml><?xml version="1.0" encoding="utf-8"?>
<p:tagLst xmlns:p="http://schemas.openxmlformats.org/presentationml/2006/main">
  <p:tag name="KSO_WM_DIAGRAM_VIRTUALLY_FRAME" val="{&quot;height&quot;:232.91549226614296,&quot;left&quot;:667.65,&quot;top&quot;:147.55,&quot;width&quot;:230.05000000000055}"/>
</p:tagLst>
</file>

<file path=ppt/tags/tag24.xml><?xml version="1.0" encoding="utf-8"?>
<p:tagLst xmlns:p="http://schemas.openxmlformats.org/presentationml/2006/main">
  <p:tag name="KSO_WM_DIAGRAM_VIRTUALLY_FRAME" val="{&quot;height&quot;:232.91549226614296,&quot;left&quot;:667.65,&quot;top&quot;:147.55,&quot;width&quot;:230.05000000000055}"/>
</p:tagLst>
</file>

<file path=ppt/tags/tag25.xml><?xml version="1.0" encoding="utf-8"?>
<p:tagLst xmlns:p="http://schemas.openxmlformats.org/presentationml/2006/main">
  <p:tag name="KSO_WM_DIAGRAM_VIRTUALLY_FRAME" val="{&quot;height&quot;:232.91549226614296,&quot;left&quot;:667.65,&quot;top&quot;:147.55,&quot;width&quot;:230.05000000000055}"/>
</p:tagLst>
</file>

<file path=ppt/tags/tag26.xml><?xml version="1.0" encoding="utf-8"?>
<p:tagLst xmlns:p="http://schemas.openxmlformats.org/presentationml/2006/main">
  <p:tag name="KSO_WM_DIAGRAM_VIRTUALLY_FRAME" val="{&quot;height&quot;:232.91549226614296,&quot;left&quot;:667.65,&quot;top&quot;:147.55,&quot;width&quot;:230.05000000000055}"/>
</p:tagLst>
</file>

<file path=ppt/tags/tag27.xml><?xml version="1.0" encoding="utf-8"?>
<p:tagLst xmlns:p="http://schemas.openxmlformats.org/presentationml/2006/main">
  <p:tag name="KSO_WM_DIAGRAM_VIRTUALLY_FRAME" val="{&quot;height&quot;:232.91549226614296,&quot;left&quot;:667.65,&quot;top&quot;:147.55,&quot;width&quot;:230.05000000000055}"/>
</p:tagLst>
</file>

<file path=ppt/tags/tag28.xml><?xml version="1.0" encoding="utf-8"?>
<p:tagLst xmlns:p="http://schemas.openxmlformats.org/presentationml/2006/main">
  <p:tag name="KSO_WM_DIAGRAM_VIRTUALLY_FRAME" val="{&quot;height&quot;:232.91549226614296,&quot;left&quot;:667.65,&quot;top&quot;:147.55,&quot;width&quot;:230.05000000000055}"/>
</p:tagLst>
</file>

<file path=ppt/tags/tag29.xml><?xml version="1.0" encoding="utf-8"?>
<p:tagLst xmlns:p="http://schemas.openxmlformats.org/presentationml/2006/main">
  <p:tag name="KSO_WM_DIAGRAM_VIRTUALLY_FRAME" val="{&quot;height&quot;:232.91549226614296,&quot;left&quot;:667.65,&quot;top&quot;:147.55,&quot;width&quot;:230.05000000000055}"/>
</p:tagLst>
</file>

<file path=ppt/tags/tag30.xml><?xml version="1.0" encoding="utf-8"?>
<p:tagLst xmlns:p="http://schemas.openxmlformats.org/presentationml/2006/main">
  <p:tag name="KSO_WM_DIAGRAM_VIRTUALLY_FRAME" val="{&quot;height&quot;:232.91549226614296,&quot;left&quot;:667.65,&quot;top&quot;:147.55,&quot;width&quot;:230.0500000000005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2810</Words>
  <Application>WPS 演示</Application>
  <PresentationFormat>Converted Presentation</PresentationFormat>
  <Paragraphs>541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Times New Roman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陈思思</cp:lastModifiedBy>
  <cp:revision>21</cp:revision>
  <dcterms:created xsi:type="dcterms:W3CDTF">2026-06-05T12:22:00Z</dcterms:created>
  <dcterms:modified xsi:type="dcterms:W3CDTF">2026-06-06T09:48:18Z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225AD6E25A144B298D86796FA132A805_12</vt:lpwstr>
  </property>
  <property fmtid="{D5CDD505-2E9C-101B-9397-08002B2CF9AE}" pid="3" name="KSOProductBuildVer">
    <vt:lpwstr>2052-12.1.0.23542</vt:lpwstr>
  </property>
</Properties>
</file>